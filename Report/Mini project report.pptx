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CA6C2-B48C-42E9-8F5A-3A3E67C47957}" v="15" dt="2026-08-22T11:56:46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Irungu" userId="3570a5346c53ff8c" providerId="LiveId" clId="{B3EF4350-6A02-4366-A4A5-47E00D9EF2BB}"/>
    <pc:docChg chg="undo custSel addSld modSld">
      <pc:chgData name="David Irungu" userId="3570a5346c53ff8c" providerId="LiveId" clId="{B3EF4350-6A02-4366-A4A5-47E00D9EF2BB}" dt="2026-08-22T12:00:29.323" v="853" actId="20577"/>
      <pc:docMkLst>
        <pc:docMk/>
      </pc:docMkLst>
      <pc:sldChg chg="modSp mod">
        <pc:chgData name="David Irungu" userId="3570a5346c53ff8c" providerId="LiveId" clId="{B3EF4350-6A02-4366-A4A5-47E00D9EF2BB}" dt="2026-08-22T11:55:41.241" v="802" actId="403"/>
        <pc:sldMkLst>
          <pc:docMk/>
          <pc:sldMk cId="0" sldId="256"/>
        </pc:sldMkLst>
        <pc:spChg chg="mod">
          <ac:chgData name="David Irungu" userId="3570a5346c53ff8c" providerId="LiveId" clId="{B3EF4350-6A02-4366-A4A5-47E00D9EF2BB}" dt="2026-08-22T11:42:58.709" v="696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5:41.241" v="802" actId="403"/>
          <ac:spMkLst>
            <pc:docMk/>
            <pc:sldMk cId="0" sldId="256"/>
            <ac:spMk id="5" creationId="{00000000-0000-0000-0000-000000000000}"/>
          </ac:spMkLst>
        </pc:spChg>
      </pc:sldChg>
      <pc:sldChg chg="delSp modSp mod">
        <pc:chgData name="David Irungu" userId="3570a5346c53ff8c" providerId="LiveId" clId="{B3EF4350-6A02-4366-A4A5-47E00D9EF2BB}" dt="2026-08-22T11:46:42.683" v="736" actId="20577"/>
        <pc:sldMkLst>
          <pc:docMk/>
          <pc:sldMk cId="0" sldId="257"/>
        </pc:sldMkLst>
        <pc:spChg chg="mod">
          <ac:chgData name="David Irungu" userId="3570a5346c53ff8c" providerId="LiveId" clId="{B3EF4350-6A02-4366-A4A5-47E00D9EF2BB}" dt="2026-08-22T11:46:42.683" v="736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43:38.893" v="697" actId="21"/>
          <ac:spMkLst>
            <pc:docMk/>
            <pc:sldMk cId="0" sldId="257"/>
            <ac:spMk id="4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43:50.315" v="704" actId="478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mod">
        <pc:chgData name="David Irungu" userId="3570a5346c53ff8c" providerId="LiveId" clId="{B3EF4350-6A02-4366-A4A5-47E00D9EF2BB}" dt="2026-08-22T11:58:10.457" v="826" actId="2710"/>
        <pc:sldMkLst>
          <pc:docMk/>
          <pc:sldMk cId="0" sldId="258"/>
        </pc:sldMkLst>
        <pc:spChg chg="del">
          <ac:chgData name="David Irungu" userId="3570a5346c53ff8c" providerId="LiveId" clId="{B3EF4350-6A02-4366-A4A5-47E00D9EF2BB}" dt="2026-08-22T11:15:39.956" v="28" actId="478"/>
          <ac:spMkLst>
            <pc:docMk/>
            <pc:sldMk cId="0" sldId="258"/>
            <ac:spMk id="3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1:57:18.533" v="813"/>
          <ac:spMkLst>
            <pc:docMk/>
            <pc:sldMk cId="0" sldId="258"/>
            <ac:spMk id="3" creationId="{7075BC22-4187-BB97-87E0-CA6AF4768667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5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5:41.877" v="29" actId="478"/>
          <ac:spMkLst>
            <pc:docMk/>
            <pc:sldMk cId="0" sldId="258"/>
            <ac:spMk id="7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7" creationId="{DA9532E6-E8FD-C409-439D-4230F36CF85F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7:20.442" v="51" actId="478"/>
          <ac:spMkLst>
            <pc:docMk/>
            <pc:sldMk cId="0" sldId="258"/>
            <ac:spMk id="11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11" creationId="{64FF471D-2185-13FF-5973-215F7F81050E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7:48.666" v="54" actId="478"/>
          <ac:spMkLst>
            <pc:docMk/>
            <pc:sldMk cId="0" sldId="258"/>
            <ac:spMk id="15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16" creationId="{61BCDEB4-233B-86D8-6627-AC260DF6C758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1:55:56.537" v="805" actId="478"/>
          <ac:spMkLst>
            <pc:docMk/>
            <pc:sldMk cId="0" sldId="258"/>
            <ac:spMk id="20" creationId="{D484B50B-0035-4F16-CA8A-B737DC1E46F7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1" creationId="{048FE746-21BE-CC23-5C9D-A833E3045B05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3" creationId="{B7C0C32A-9588-3369-2263-E38589D73AF1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7" creationId="{C90CB12A-4228-D069-1B16-97D339E96038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9" creationId="{E79488D8-45F0-5874-36CF-BE3382B9D1C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31" creationId="{17AD7D6A-E36A-1F32-C61E-D541E111FE54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33" creationId="{EE7322C2-D19D-AAC6-6DA1-E37A12DADCA6}"/>
          </ac:spMkLst>
        </pc:spChg>
        <pc:spChg chg="add">
          <ac:chgData name="David Irungu" userId="3570a5346c53ff8c" providerId="LiveId" clId="{B3EF4350-6A02-4366-A4A5-47E00D9EF2BB}" dt="2026-08-22T11:57:14.310" v="810" actId="22"/>
          <ac:spMkLst>
            <pc:docMk/>
            <pc:sldMk cId="0" sldId="258"/>
            <ac:spMk id="35" creationId="{59F01768-461B-702D-7A36-27C4BE1FB068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37" creationId="{67FB1887-B6CE-4990-FE3D-D4717C05961F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39" creationId="{68F9653F-6FE0-A3A2-6F81-C75031692EF3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1" creationId="{88D82258-D096-E8D9-D1BE-50C9BD7D302D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3" creationId="{A9B4A275-5C19-B13F-5363-D964C8646D51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7" creationId="{E01EBB16-7DC1-2A20-BD05-1CDD29D7B41D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9" creationId="{ECF4F4C4-1135-7C38-EC9C-12B7E53A47D6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51" creationId="{E0FB1D44-5F89-9605-52CB-D7679E1D6344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53" creationId="{1F4D2766-5B59-CFB9-AD3B-3C66137A595E}"/>
          </ac:spMkLst>
        </pc:spChg>
        <pc:picChg chg="del">
          <ac:chgData name="David Irungu" userId="3570a5346c53ff8c" providerId="LiveId" clId="{B3EF4350-6A02-4366-A4A5-47E00D9EF2BB}" dt="2026-08-22T11:18:41.419" v="68" actId="478"/>
          <ac:picMkLst>
            <pc:docMk/>
            <pc:sldMk cId="0" sldId="258"/>
            <ac:picMk id="4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18:43.681" v="69" actId="478"/>
          <ac:picMkLst>
            <pc:docMk/>
            <pc:sldMk cId="0" sldId="258"/>
            <ac:picMk id="8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56:35.754" v="806" actId="478"/>
          <ac:picMkLst>
            <pc:docMk/>
            <pc:sldMk cId="0" sldId="258"/>
            <ac:picMk id="12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18:38.182" v="67" actId="478"/>
          <ac:picMkLst>
            <pc:docMk/>
            <pc:sldMk cId="0" sldId="258"/>
            <ac:picMk id="16" creationId="{00000000-0000-0000-0000-000000000000}"/>
          </ac:picMkLst>
        </pc:picChg>
        <pc:picChg chg="add del">
          <ac:chgData name="David Irungu" userId="3570a5346c53ff8c" providerId="LiveId" clId="{B3EF4350-6A02-4366-A4A5-47E00D9EF2BB}" dt="2026-08-22T11:56:59.311" v="809" actId="22"/>
          <ac:picMkLst>
            <pc:docMk/>
            <pc:sldMk cId="0" sldId="258"/>
            <ac:picMk id="25" creationId="{9B59A8D9-0224-7EAF-B27C-D2F9BAC07140}"/>
          </ac:picMkLst>
        </pc:picChg>
        <pc:picChg chg="add del">
          <ac:chgData name="David Irungu" userId="3570a5346c53ff8c" providerId="LiveId" clId="{B3EF4350-6A02-4366-A4A5-47E00D9EF2BB}" dt="2026-08-22T11:57:18.533" v="811" actId="478"/>
          <ac:picMkLst>
            <pc:docMk/>
            <pc:sldMk cId="0" sldId="258"/>
            <ac:picMk id="45" creationId="{0333C166-132F-DDA1-31DB-6E2FAA57CDE3}"/>
          </ac:picMkLst>
        </pc:picChg>
      </pc:sldChg>
      <pc:sldChg chg="delSp modSp mod">
        <pc:chgData name="David Irungu" userId="3570a5346c53ff8c" providerId="LiveId" clId="{B3EF4350-6A02-4366-A4A5-47E00D9EF2BB}" dt="2026-08-22T11:51:52.140" v="798" actId="14100"/>
        <pc:sldMkLst>
          <pc:docMk/>
          <pc:sldMk cId="0" sldId="259"/>
        </pc:sldMkLst>
        <pc:spChg chg="del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3.743" v="204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1:52.140" v="798" actId="14100"/>
          <ac:spMkLst>
            <pc:docMk/>
            <pc:sldMk cId="0" sldId="259"/>
            <ac:spMk id="5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6.019" v="205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49:40.776" v="750" actId="478"/>
          <ac:spMkLst>
            <pc:docMk/>
            <pc:sldMk cId="0" sldId="259"/>
            <ac:spMk id="8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7.137" v="206" actId="478"/>
          <ac:spMkLst>
            <pc:docMk/>
            <pc:sldMk cId="0" sldId="259"/>
            <ac:spMk id="10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0:08.327" v="762" actId="21"/>
          <ac:spMkLst>
            <pc:docMk/>
            <pc:sldMk cId="0" sldId="259"/>
            <ac:spMk id="11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2:23.956" v="167" actId="478"/>
          <ac:spMkLst>
            <pc:docMk/>
            <pc:sldMk cId="0" sldId="259"/>
            <ac:spMk id="12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13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0:25.717" v="766" actId="478"/>
          <ac:spMkLst>
            <pc:docMk/>
            <pc:sldMk cId="0" sldId="259"/>
            <ac:spMk id="14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5.094" v="168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16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0:43.186" v="770" actId="478"/>
          <ac:spMkLst>
            <pc:docMk/>
            <pc:sldMk cId="0" sldId="259"/>
            <ac:spMk id="17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5:53.970" v="245" actId="6549"/>
          <ac:spMkLst>
            <pc:docMk/>
            <pc:sldMk cId="0" sldId="259"/>
            <ac:spMk id="20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14:21.503" v="17" actId="20577"/>
        <pc:sldMkLst>
          <pc:docMk/>
          <pc:sldMk cId="0" sldId="260"/>
        </pc:sldMkLst>
        <pc:spChg chg="mod">
          <ac:chgData name="David Irungu" userId="3570a5346c53ff8c" providerId="LiveId" clId="{B3EF4350-6A02-4366-A4A5-47E00D9EF2BB}" dt="2026-08-22T11:14:21.503" v="17" actId="20577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28:30.262" v="339" actId="1076"/>
        <pc:sldMkLst>
          <pc:docMk/>
          <pc:sldMk cId="0" sldId="261"/>
        </pc:sldMkLst>
        <pc:spChg chg="mod">
          <ac:chgData name="David Irungu" userId="3570a5346c53ff8c" providerId="LiveId" clId="{B3EF4350-6A02-4366-A4A5-47E00D9EF2BB}" dt="2026-08-22T11:28:19.717" v="336" actId="1076"/>
          <ac:spMkLst>
            <pc:docMk/>
            <pc:sldMk cId="0" sldId="261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8:22.677" v="337" actId="14100"/>
          <ac:spMkLst>
            <pc:docMk/>
            <pc:sldMk cId="0" sldId="261"/>
            <ac:spMk id="5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8:30.262" v="339" actId="1076"/>
          <ac:spMkLst>
            <pc:docMk/>
            <pc:sldMk cId="0" sldId="261"/>
            <ac:spMk id="6" creationId="{00000000-0000-0000-0000-000000000000}"/>
          </ac:spMkLst>
        </pc:spChg>
      </pc:sldChg>
      <pc:sldChg chg="delSp modSp mod">
        <pc:chgData name="David Irungu" userId="3570a5346c53ff8c" providerId="LiveId" clId="{B3EF4350-6A02-4366-A4A5-47E00D9EF2BB}" dt="2026-08-22T11:40:15.923" v="641" actId="6549"/>
        <pc:sldMkLst>
          <pc:docMk/>
          <pc:sldMk cId="0" sldId="262"/>
        </pc:sldMkLst>
        <pc:spChg chg="mod">
          <ac:chgData name="David Irungu" userId="3570a5346c53ff8c" providerId="LiveId" clId="{B3EF4350-6A02-4366-A4A5-47E00D9EF2BB}" dt="2026-08-22T11:39:54.272" v="616" actId="20577"/>
          <ac:spMkLst>
            <pc:docMk/>
            <pc:sldMk cId="0" sldId="262"/>
            <ac:spMk id="2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9:08.179" v="345" actId="478"/>
          <ac:spMkLst>
            <pc:docMk/>
            <pc:sldMk cId="0" sldId="262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8:59.170" v="343" actId="478"/>
          <ac:spMkLst>
            <pc:docMk/>
            <pc:sldMk cId="0" sldId="262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9:04.140" v="344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40:15.923" v="641" actId="6549"/>
          <ac:spMkLst>
            <pc:docMk/>
            <pc:sldMk cId="0" sldId="262"/>
            <ac:spMk id="10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9:59.685" v="376" actId="478"/>
          <ac:spMkLst>
            <pc:docMk/>
            <pc:sldMk cId="0" sldId="262"/>
            <ac:spMk id="12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1:33.798" v="436" actId="20577"/>
          <ac:spMkLst>
            <pc:docMk/>
            <pc:sldMk cId="0" sldId="262"/>
            <ac:spMk id="1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1:04.828" v="390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39:25.296" v="597" actId="6549"/>
        <pc:sldMkLst>
          <pc:docMk/>
          <pc:sldMk cId="0" sldId="263"/>
        </pc:sldMkLst>
        <pc:spChg chg="mod">
          <ac:chgData name="David Irungu" userId="3570a5346c53ff8c" providerId="LiveId" clId="{B3EF4350-6A02-4366-A4A5-47E00D9EF2BB}" dt="2026-08-22T11:39:25.296" v="597" actId="6549"/>
          <ac:spMkLst>
            <pc:docMk/>
            <pc:sldMk cId="0" sldId="263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9:17.872" v="595" actId="6549"/>
          <ac:spMkLst>
            <pc:docMk/>
            <pc:sldMk cId="0" sldId="263"/>
            <ac:spMk id="5" creationId="{00000000-0000-0000-0000-000000000000}"/>
          </ac:spMkLst>
        </pc:spChg>
      </pc:sldChg>
      <pc:sldChg chg="addSp delSp modSp mod">
        <pc:chgData name="David Irungu" userId="3570a5346c53ff8c" providerId="LiveId" clId="{B3EF4350-6A02-4366-A4A5-47E00D9EF2BB}" dt="2026-08-22T12:00:29.323" v="853" actId="20577"/>
        <pc:sldMkLst>
          <pc:docMk/>
          <pc:sldMk cId="0" sldId="264"/>
        </pc:sldMkLst>
        <pc:spChg chg="del">
          <ac:chgData name="David Irungu" userId="3570a5346c53ff8c" providerId="LiveId" clId="{B3EF4350-6A02-4366-A4A5-47E00D9EF2BB}" dt="2026-08-22T11:32:06.554" v="437" actId="478"/>
          <ac:spMkLst>
            <pc:docMk/>
            <pc:sldMk cId="0" sldId="264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0.115" v="438" actId="478"/>
          <ac:spMkLst>
            <pc:docMk/>
            <pc:sldMk cId="0" sldId="264"/>
            <ac:spMk id="4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2:00:29.323" v="853" actId="20577"/>
          <ac:spMkLst>
            <pc:docMk/>
            <pc:sldMk cId="0" sldId="264"/>
            <ac:spMk id="5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2.296" v="440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1.442" v="439" actId="478"/>
          <ac:spMkLst>
            <pc:docMk/>
            <pc:sldMk cId="0" sldId="264"/>
            <ac:spMk id="7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12.956" v="562" actId="21"/>
          <ac:spMkLst>
            <pc:docMk/>
            <pc:sldMk cId="0" sldId="264"/>
            <ac:spMk id="8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3.662" v="441" actId="478"/>
          <ac:spMkLst>
            <pc:docMk/>
            <pc:sldMk cId="0" sldId="264"/>
            <ac:spMk id="9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32:22.596" v="446" actId="478"/>
          <ac:spMkLst>
            <pc:docMk/>
            <pc:sldMk cId="0" sldId="264"/>
            <ac:spMk id="10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20.191" v="566" actId="21"/>
          <ac:spMkLst>
            <pc:docMk/>
            <pc:sldMk cId="0" sldId="264"/>
            <ac:spMk id="11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6.592" v="443" actId="478"/>
          <ac:spMkLst>
            <pc:docMk/>
            <pc:sldMk cId="0" sldId="264"/>
            <ac:spMk id="12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32:21.206" v="445" actId="478"/>
          <ac:spMkLst>
            <pc:docMk/>
            <pc:sldMk cId="0" sldId="264"/>
            <ac:spMk id="13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28.792" v="569" actId="21"/>
          <ac:spMkLst>
            <pc:docMk/>
            <pc:sldMk cId="0" sldId="264"/>
            <ac:spMk id="14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4:08.950" v="527" actId="478"/>
          <ac:spMkLst>
            <pc:docMk/>
            <pc:sldMk cId="0" sldId="264"/>
            <ac:spMk id="15" creationId="{00000000-0000-0000-0000-000000000000}"/>
          </ac:spMkLst>
        </pc:spChg>
      </pc:sldChg>
      <pc:sldChg chg="addSp delSp modSp add mod">
        <pc:chgData name="David Irungu" userId="3570a5346c53ff8c" providerId="LiveId" clId="{B3EF4350-6A02-4366-A4A5-47E00D9EF2BB}" dt="2026-08-22T11:48:28.415" v="742" actId="404"/>
        <pc:sldMkLst>
          <pc:docMk/>
          <pc:sldMk cId="1568342188" sldId="265"/>
        </pc:sldMkLst>
        <pc:spChg chg="mod">
          <ac:chgData name="David Irungu" userId="3570a5346c53ff8c" providerId="LiveId" clId="{B3EF4350-6A02-4366-A4A5-47E00D9EF2BB}" dt="2026-08-22T11:35:01.480" v="542" actId="20577"/>
          <ac:spMkLst>
            <pc:docMk/>
            <pc:sldMk cId="1568342188" sldId="265"/>
            <ac:spMk id="2" creationId="{C1AE7500-DEFA-6E2D-AA36-9BA86C0A3FB4}"/>
          </ac:spMkLst>
        </pc:spChg>
        <pc:spChg chg="add del">
          <ac:chgData name="David Irungu" userId="3570a5346c53ff8c" providerId="LiveId" clId="{B3EF4350-6A02-4366-A4A5-47E00D9EF2BB}" dt="2026-08-22T11:35:42.391" v="551" actId="22"/>
          <ac:spMkLst>
            <pc:docMk/>
            <pc:sldMk cId="1568342188" sldId="265"/>
            <ac:spMk id="4" creationId="{76F7868D-872B-D3EE-89BD-BEB4CC21D5DB}"/>
          </ac:spMkLst>
        </pc:spChg>
        <pc:spChg chg="del mod">
          <ac:chgData name="David Irungu" userId="3570a5346c53ff8c" providerId="LiveId" clId="{B3EF4350-6A02-4366-A4A5-47E00D9EF2BB}" dt="2026-08-22T11:35:18.522" v="546" actId="478"/>
          <ac:spMkLst>
            <pc:docMk/>
            <pc:sldMk cId="1568342188" sldId="265"/>
            <ac:spMk id="5" creationId="{CF27068B-B697-60C0-5388-E11698C3CBFE}"/>
          </ac:spMkLst>
        </pc:spChg>
        <pc:spChg chg="add mod">
          <ac:chgData name="David Irungu" userId="3570a5346c53ff8c" providerId="LiveId" clId="{B3EF4350-6A02-4366-A4A5-47E00D9EF2BB}" dt="2026-08-22T11:48:28.415" v="742" actId="404"/>
          <ac:spMkLst>
            <pc:docMk/>
            <pc:sldMk cId="1568342188" sldId="265"/>
            <ac:spMk id="7" creationId="{8646C832-484F-C812-101B-2504DBE145CD}"/>
          </ac:spMkLst>
        </pc:spChg>
        <pc:spChg chg="mod">
          <ac:chgData name="David Irungu" userId="3570a5346c53ff8c" providerId="LiveId" clId="{B3EF4350-6A02-4366-A4A5-47E00D9EF2BB}" dt="2026-08-22T11:35:16.767" v="545" actId="6549"/>
          <ac:spMkLst>
            <pc:docMk/>
            <pc:sldMk cId="1568342188" sldId="265"/>
            <ac:spMk id="8" creationId="{88D10BB5-8208-B2D7-66A5-FBA4BCD75F67}"/>
          </ac:spMkLst>
        </pc:spChg>
        <pc:spChg chg="del">
          <ac:chgData name="David Irungu" userId="3570a5346c53ff8c" providerId="LiveId" clId="{B3EF4350-6A02-4366-A4A5-47E00D9EF2BB}" dt="2026-08-22T11:35:20.396" v="547" actId="478"/>
          <ac:spMkLst>
            <pc:docMk/>
            <pc:sldMk cId="1568342188" sldId="265"/>
            <ac:spMk id="11" creationId="{083C07FF-67B5-93F9-42A3-AE8E74B08390}"/>
          </ac:spMkLst>
        </pc:spChg>
        <pc:spChg chg="mod">
          <ac:chgData name="David Irungu" userId="3570a5346c53ff8c" providerId="LiveId" clId="{B3EF4350-6A02-4366-A4A5-47E00D9EF2BB}" dt="2026-08-22T11:35:38.739" v="549" actId="20577"/>
          <ac:spMkLst>
            <pc:docMk/>
            <pc:sldMk cId="1568342188" sldId="265"/>
            <ac:spMk id="14" creationId="{5282B162-F120-A1E4-6007-8874199A13E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8767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 classification task on survey data from Kenya, Rwanda, Tanzania and Uganda. Four classic algorithms are compared under an identical protocol: same preprocessing, same 2-fold stratified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14% base rate is the key number - it defines the 86% baseline any model must beat and drives the whole discussion of accuracy vs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strands of prior work: (1) financial-inclusion research establishing the problem's importance and its measurement; (2) ML literature comparing these same four algorithm families, which finds no universal winner - hence this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Identical preparation for all four models, wrapped in a scikit-learn Pipeline so the scaler and encoder only ever see the training fold - avoiding data leakage. After one-hot encoding the models see about 50 input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card per algorithm with its key settings. Class weighting was deliberately not used on the tree and SVM because KNN and the ANN have no equivalent - keeping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bars are the honest scores (every sample predicted by a model that never trained on it); orange bars are train-equals-test. The gap between a model's two bars measures memorization. Full per-fold numbers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SVM row highlighted as the best cross-validated accuracy (0.8881). Note KNN's 0.1048 overfit gap versus SVM's 0.0040.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confusion matrices come from the same 2-fold CV predictions as the accuracy chart - every one of the 23,524 samples appears exactly once. Percentages are shares of the true class (row-normalized).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2263-5F88-8800-4AD3-62924780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40DDC-B58A-07D4-D916-FB8D4E123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9B8480-5D6D-832A-BF5C-3CC08C3BA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C8CAF-C146-5F81-9E72-36D379C03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330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359139-99F8-4B6E-8834-95F2B9D91EE4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8383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0896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474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1498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2778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549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48FC9B1-6F61-4A8F-9F5E-715654075A93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GB"/>
              <a:t>Click to edit Master text styles</a:t>
            </a:r>
          </a:p>
          <a:p>
            <a:pPr marL="228600" lvl="1" indent="-228600"/>
            <a:r>
              <a:rPr lang="en-GB"/>
              <a:t>Second level</a:t>
            </a:r>
          </a:p>
          <a:p>
            <a:pPr marL="228600" lvl="2" indent="-228600"/>
            <a:r>
              <a:rPr lang="en-GB"/>
              <a:t>Third level</a:t>
            </a:r>
          </a:p>
          <a:p>
            <a:pPr marL="228600" lvl="3" indent="-228600"/>
            <a:r>
              <a:rPr lang="en-GB"/>
              <a:t>Fourth level</a:t>
            </a:r>
          </a:p>
          <a:p>
            <a:pPr marL="228600" lvl="4" indent="-228600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79473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5770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6CB2F34-49A1-4C07-91D5-90BE967306D3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09661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324978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8B2456C-66BE-435E-8059-3A9CD55F29F9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5568663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17409D93-5111-4952-AC4F-FA1AE909A4B8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12579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3E10B2-AFF3-4A4A-BC83-5BB137C878CB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94640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C1935215-257D-4F50-AF56-70E3294947FA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2218365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B0E3CDF-6E7C-4C67-B567-8606B07963A0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74318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060FE60-4389-4D8B-84BB-900FC000024C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38174156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709B22-BFE8-4BFE-80D5-4133DC0C2AC6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90484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BFCE55E5-7E1C-4243-A685-91A6EB8BE97F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08267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AFD96D-C3CB-4F44-8CE3-582861660F11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65711896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3830239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03F4C9-1C82-4616-8D26-0B058729120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11841556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8C42AE-61C6-458B-86C3-22D39A5E8956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77316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D71BEE-9C65-4D84-970B-0B47E929926B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51916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FCF02-D35E-46A4-B7A1-1A2B81F8D932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00024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57AF51-4D04-4E0C-B33D-81940CAB4B07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2374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ABFCF2-BE01-43CB-85B3-49CC0FE5505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00904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19A0F5-9D15-4E68-95BA-31AD4F5D84D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70156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5070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59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22214/ijraset.2024.65138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6" Type="http://schemas.openxmlformats.org/officeDocument/2006/relationships/hyperlink" Target="https://zindi.africa/competitions/financial-inclusion-in-africa" TargetMode="External"/><Relationship Id="rId5" Type="http://schemas.openxmlformats.org/officeDocument/2006/relationships/hyperlink" Target="https://doi.org/10.1126/science.aah5309" TargetMode="External"/><Relationship Id="rId4" Type="http://schemas.openxmlformats.org/officeDocument/2006/relationships/hyperlink" Target="https://doi.org/10.1596/978-1-4648-1897-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Financial Inclusion in East Africa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KNN, Decision Tree, ANN and SVM classifiers with 2-fold cross-validation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person's demographic and socio-economic profile, can a machine predict whether they have a bank account?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4960189"/>
            <a:ext cx="10515600" cy="1394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David Gathage  - 223405</a:t>
            </a: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Aicha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Zindamoyen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- 134141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financial inclusion?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39"/>
            <a:ext cx="6035040" cy="3842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account lets people save safely, borrow, insure against risk and receive payments. Across sub-Saharan Africa, only about half of adults hold any account, and far fewer hold a formal bank account (</a:t>
            </a:r>
            <a:r>
              <a:rPr lang="fi-FI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 T., 2016)</a:t>
            </a: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Knowing who is excluded, and which characteristics predict exclusion, helps banks, mobile-money operators and policymakers target the right products and policy.</a:t>
            </a:r>
          </a:p>
          <a:p>
            <a:pPr>
              <a:lnSpc>
                <a:spcPct val="150000"/>
              </a:lnSpc>
            </a:pPr>
            <a:endParaRPr lang="en-US" sz="1550" dirty="0">
              <a:solidFill>
                <a:srgbClr val="0B0B0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tests whether four standard machine-learning methods can learn that prediction from national survey data, and which method does it best.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40080" y="3035808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17804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17804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23,524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73836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73836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87552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KE, RW, TZ, UG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7804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17804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bank account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73836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73836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87552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variables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59F01768-461B-702D-7A36-27C4BE1FB068}"/>
              </a:ext>
            </a:extLst>
          </p:cNvPr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67FB1887-B6CE-4990-FE3D-D4717C05961F}"/>
              </a:ext>
            </a:extLst>
          </p:cNvPr>
          <p:cNvSpPr/>
          <p:nvPr/>
        </p:nvSpPr>
        <p:spPr>
          <a:xfrm>
            <a:off x="787481" y="14173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Demirguc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-Kunt et al. (2022) - The Global Findex Database 2021, World Bank</a:t>
            </a:r>
            <a:endParaRPr lang="en-US" sz="1400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68F9653F-6FE0-A3A2-6F81-C75031692EF3}"/>
              </a:ext>
            </a:extLst>
          </p:cNvPr>
          <p:cNvSpPr/>
          <p:nvPr/>
        </p:nvSpPr>
        <p:spPr>
          <a:xfrm>
            <a:off x="787481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account ownership worldwide; in sub-Saharan Africa just over half of adults hold an account, with mobile money driving most recent gains.</a:t>
            </a:r>
            <a:endParaRPr lang="en-US" sz="12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88D82258-D096-E8D9-D1BE-50C9BD7D302D}"/>
              </a:ext>
            </a:extLst>
          </p:cNvPr>
          <p:cNvSpPr/>
          <p:nvPr/>
        </p:nvSpPr>
        <p:spPr>
          <a:xfrm>
            <a:off x="787481" y="208483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Suri, T., &amp; Jack, W. (2016) - The long-run poverty and gender impacts of mobile money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A9B4A275-5C19-B13F-5363-D964C8646D51}"/>
              </a:ext>
            </a:extLst>
          </p:cNvPr>
          <p:cNvSpPr/>
          <p:nvPr/>
        </p:nvSpPr>
        <p:spPr>
          <a:xfrm>
            <a:off x="787481" y="2423160"/>
            <a:ext cx="10058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M-Pesa mobile money lifted an estimated 2% of Kenyan households out of extreme poverty. A causal case for expanding financial access.</a:t>
            </a:r>
            <a:endParaRPr lang="en-US" sz="120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E01EBB16-7DC1-2A20-BD05-1CDD29D7B41D}"/>
              </a:ext>
            </a:extLst>
          </p:cNvPr>
          <p:cNvSpPr/>
          <p:nvPr/>
        </p:nvSpPr>
        <p:spPr>
          <a:xfrm>
            <a:off x="787481" y="2753441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Dataset's origin: </a:t>
            </a:r>
            <a:r>
              <a:rPr lang="it-IT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Zindi (2019) - 'Financial Inclusion in Africa' challenge.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ECF4F4C4-1135-7C38-EC9C-12B7E53A47D6}"/>
              </a:ext>
            </a:extLst>
          </p:cNvPr>
          <p:cNvSpPr/>
          <p:nvPr/>
        </p:nvSpPr>
        <p:spPr>
          <a:xfrm>
            <a:off x="787481" y="3091769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the FinScope/FinAccess survey data used here (2016-2018) and framed bank-account prediction as a supervised learning task.</a:t>
            </a:r>
            <a:endParaRPr lang="en-US" sz="120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0FB1D44-5F89-9605-52CB-D7679E1D6344}"/>
              </a:ext>
            </a:extLst>
          </p:cNvPr>
          <p:cNvSpPr/>
          <p:nvPr/>
        </p:nvSpPr>
        <p:spPr>
          <a:xfrm>
            <a:off x="787481" y="341290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Comparing classic classifiers - The IJRASET 2024 comparative analysis</a:t>
            </a:r>
            <a:endParaRPr lang="en-US" sz="1400" dirty="0"/>
          </a:p>
        </p:txBody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1F4D2766-5B59-CFB9-AD3B-3C66137A595E}"/>
              </a:ext>
            </a:extLst>
          </p:cNvPr>
          <p:cNvSpPr/>
          <p:nvPr/>
        </p:nvSpPr>
        <p:spPr>
          <a:xfrm>
            <a:off x="787481" y="375123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studies of KNN, SVM, Decision Trees and neural networks on financial and credit data consistently find that the winner is dataset-dependent. That is the case for running a controlled comparison on this dataset.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data construction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472010"/>
            <a:ext cx="5577840" cy="441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dataset. </a:t>
            </a:r>
            <a:r>
              <a:rPr lang="en-US" sz="1400" dirty="0" err="1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FinScope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FinAccess national surveys 2016-2018 (via the Zindi challenge): 23,524 rows, 13 columns, 0 missing values.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Clean dataset.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Drop the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uniqueid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row identifier; map the target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bank_account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to 1 (Yes) / 0 (No).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Encode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9 categorical variables (country, location, cellphone access, gender, relationship, marital status, education, job type, survey year).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Scale by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standardizing the 2 numeric variables (household size, age) to mean 0,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s.d.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1 - essential for the distance-based KNN and SVM and for the ANN.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Stratified, shuffled 2-fold cross-validation: train on one half, test on the other, then swap. All preprocessing is fitted inside each fold to prevent data leakage.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0036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50" dirty="0"/>
          </a:p>
        </p:txBody>
      </p:sp>
      <p:pic>
        <p:nvPicPr>
          <p:cNvPr id="18" name="Image 0" descr="../ml_project/figures/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00200"/>
            <a:ext cx="4297680" cy="262432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223760" y="452628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7452360" y="4681728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respondents have no account, so a model that always answers “No” is already 85.9% accurate. Real data is above the differential.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ML methods used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60934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539" y="20647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15 most similar respondents and takes a distance-weighted vote.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6868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15, distance weighting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444398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1" descr="icons/site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179" y="206471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370332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a flowchart of yes/no questions that best separate the classes.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0332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10, min 25 per leaf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30936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727862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8819" y="206471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0936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(MLP)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653796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neurons learn non-linear feature interactions by backpropagation.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53796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layers 64 + 32, ReLU, Adam, early stopping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14400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17"/>
          <p:cNvSpPr/>
          <p:nvPr/>
        </p:nvSpPr>
        <p:spPr>
          <a:xfrm>
            <a:off x="10113264" y="1874520"/>
            <a:ext cx="731520" cy="731520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3" name="Image 3" descr="icons/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3459" y="206471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937260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widest-margin boundary; the kernel allows it to curve.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37260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1.0, gamma = scale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preprocessing, same 2-fold stratified cross-validation for all four models - so any accuracy difference comes down to the algorithm itself.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accuracy - all samples</a:t>
            </a:r>
            <a:endParaRPr lang="en-US" sz="3400" dirty="0"/>
          </a:p>
        </p:txBody>
      </p:sp>
      <p:pic>
        <p:nvPicPr>
          <p:cNvPr id="3" name="Image 0" descr="../ml_project/figures/accurac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7680960" cy="42702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32520" y="212140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accurate -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88.8% under 2-fold CV, with ANN (88.6%) and Decision Tree (88.2%) close behind.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732520" y="3035808"/>
            <a:ext cx="2880360" cy="113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shows a tendency to memorize. </a:t>
            </a:r>
            <a:b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method scores 97.8% when tested on its own training data, but only 87.3% on unseen folds - the largest overfit gap (10.5 points).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732520" y="4349438"/>
            <a:ext cx="2880360" cy="99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85.9%.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answering “No account” scores 85.9%; All 4 models beats the benchmark, but by at most 2.9 points.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 of Results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2834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2-fold 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time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690872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617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Consistency across folds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640080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 and Fold 2 accuracies differ by at most 2 points for every model - the 2-fold estimates are stable.</a:t>
            </a:r>
            <a:endParaRPr lang="en-US" sz="1150" dirty="0"/>
          </a:p>
        </p:txBody>
      </p:sp>
      <p:pic>
        <p:nvPicPr>
          <p:cNvPr id="9" name="Image 1" descr="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69087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15968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Accuracy is insufficient as a metric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4315968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models cluster within 1.5 points of each other under CV; the confusion matrices (next slide) separate them further.</a:t>
            </a:r>
            <a:endParaRPr lang="en-US" sz="1150" dirty="0"/>
          </a:p>
        </p:txBody>
      </p:sp>
      <p:pic>
        <p:nvPicPr>
          <p:cNvPr id="13" name="Image 2" descr="icons/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46908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991856" y="45491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Performance difference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7991856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tree cross-validates in 0.2 s, the ANN in around 3 s, KNN in ~15 s and the SVM in ~13 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- where the models err</a:t>
            </a:r>
            <a:endParaRPr lang="en-US" sz="3400" dirty="0"/>
          </a:p>
        </p:txBody>
      </p:sp>
      <p:pic>
        <p:nvPicPr>
          <p:cNvPr id="3" name="Image 0" descr="../ml_project/figures/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08792" cy="2999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is mostly the majority class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40080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recognizes non-account-holders almost perfectly (96-98%) but finds only 30-35% of actual account holders.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315968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errors, similar accuracy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315968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conservative (fewest false “Yes”: 328) yet misses the most real account holders; ANN finds the most (1,175). Which is “best” depends on the cost of each error.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91856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help next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91856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or resampling (e.g. SMOTE), threshold tuning, and ensembles (Random Forest / gradient boosting) - all trade a little accuracy for much better minority-class recall.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SVM has the bet 2-fold CV accuracy (88.8%), with ANN (88.6%) statistically comes second at a fraction of the training cost.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 all-samples testing KNN looks like the best model (97.8%); under cross-validation it is the worst (87.3%).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r>
              <a:rPr lang="en-US">
                <a:latin typeface="Calibri" pitchFamily="34" charset="0"/>
                <a:ea typeface="Calibri" pitchFamily="34" charset="-122"/>
                <a:cs typeface="Calibri" pitchFamily="34" charset="-120"/>
              </a:rPr>
              <a:t>alone is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misleading metric.  With 86% of respondents unbanked, the interesting signal is minority-class recall - where every model still has ample room to improve.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For this dataset: ANN or SVM with class rebalancing as the next step; the Decision Tree where interpretability for policymakers outweighs the last point of accuracy.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966452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2960" y="36220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37005F-0C4F-2FDD-5748-66297B87D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AE7500-DEFA-6E2D-AA36-9BA86C0A3FB4}"/>
              </a:ext>
            </a:extLst>
          </p:cNvPr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8D10BB5-8208-B2D7-66A5-FBA4BCD75F67}"/>
              </a:ext>
            </a:extLst>
          </p:cNvPr>
          <p:cNvSpPr/>
          <p:nvPr/>
        </p:nvSpPr>
        <p:spPr>
          <a:xfrm>
            <a:off x="822960" y="224942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282B162-F120-A1E4-6007-8874199A13E2}"/>
              </a:ext>
            </a:extLst>
          </p:cNvPr>
          <p:cNvSpPr/>
          <p:nvPr/>
        </p:nvSpPr>
        <p:spPr>
          <a:xfrm>
            <a:off x="822960" y="1629358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46C832-484F-C812-101B-2504DBE145CD}"/>
              </a:ext>
            </a:extLst>
          </p:cNvPr>
          <p:cNvSpPr txBox="1"/>
          <p:nvPr/>
        </p:nvSpPr>
        <p:spPr>
          <a:xfrm>
            <a:off x="822960" y="1417486"/>
            <a:ext cx="9966960" cy="3474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Acharya, B. B., &amp; </a:t>
            </a:r>
            <a:r>
              <a:rPr lang="en-GB" sz="1400" dirty="0" err="1"/>
              <a:t>Shaileshbhai</a:t>
            </a:r>
            <a:r>
              <a:rPr lang="en-GB" sz="1400" dirty="0"/>
              <a:t>, G. D. (2024). Comparative analysis of machine learning algorithms: KNN, SVM, Decision Tree and Logistic Regression for efficiency and performance. </a:t>
            </a:r>
            <a:r>
              <a:rPr lang="en-GB" sz="1400" i="1" dirty="0"/>
              <a:t>International Journal for Research in Applied Science &amp; Engineering Technology, 12</a:t>
            </a:r>
            <a:r>
              <a:rPr lang="en-GB" sz="1400" dirty="0"/>
              <a:t>(11), 614–619. </a:t>
            </a:r>
            <a:r>
              <a:rPr lang="en-GB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https://doi.org/10.22214/ijraset.2024.65138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Demirgüç</a:t>
            </a:r>
            <a:r>
              <a:rPr lang="en-GB" sz="1400" dirty="0"/>
              <a:t>-Kunt, A., Klapper, L., Singer, D., &amp; Ansar, S. (2022). </a:t>
            </a:r>
            <a:r>
              <a:rPr lang="en-GB" sz="1400" i="1" dirty="0"/>
              <a:t>The Global Findex Database 2021: Financial inclusion, digital payments, and resilience in the age of COVID-19.</a:t>
            </a:r>
            <a:r>
              <a:rPr lang="en-GB" sz="1400" dirty="0"/>
              <a:t> World Bank. </a:t>
            </a:r>
            <a:r>
              <a:rPr lang="en-GB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https://doi.org/10.1596/978-1-4648-1897-4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Suri, T., &amp; Jack, W. (2016). The long-run poverty and gender impacts of mobile money. </a:t>
            </a:r>
            <a:r>
              <a:rPr lang="en-GB" sz="1400" i="1" dirty="0"/>
              <a:t>Science, 354</a:t>
            </a:r>
            <a:r>
              <a:rPr lang="en-GB" sz="1400" dirty="0"/>
              <a:t>(6317), 1288–1292. </a:t>
            </a:r>
            <a:r>
              <a:rPr lang="en-GB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https://doi.org/10.1126/science.aah5309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Zindi. (2019). </a:t>
            </a:r>
            <a:r>
              <a:rPr lang="en-GB" sz="1400" i="1" dirty="0"/>
              <a:t>Financial Inclusion in Africa</a:t>
            </a:r>
            <a:r>
              <a:rPr lang="en-GB" sz="1400" dirty="0"/>
              <a:t> [Data set]. </a:t>
            </a:r>
            <a:r>
              <a:rPr lang="en-GB" sz="14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https://zindi.africa/competitions/financial-inclusion-in-africa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568342188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Words>1641</Words>
  <Application>Microsoft Office PowerPoint</Application>
  <PresentationFormat>Widescreen</PresentationFormat>
  <Paragraphs>132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Neue Haas Grotesk Text Pro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David Irungu</dc:creator>
  <cp:lastModifiedBy>David Irungu</cp:lastModifiedBy>
  <cp:revision>1</cp:revision>
  <dcterms:created xsi:type="dcterms:W3CDTF">2026-08-22T08:43:52Z</dcterms:created>
  <dcterms:modified xsi:type="dcterms:W3CDTF">2026-08-22T12:00:30Z</dcterms:modified>
</cp:coreProperties>
</file>