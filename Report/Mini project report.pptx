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Irungu" userId="3570a5346c53ff8c" providerId="LiveId" clId="{B3EF4350-6A02-4366-A4A5-47E00D9EF2BB}"/>
    <pc:docChg chg="modSld">
      <pc:chgData name="David Irungu" userId="3570a5346c53ff8c" providerId="LiveId" clId="{B3EF4350-6A02-4366-A4A5-47E00D9EF2BB}" dt="2026-08-22T10:02:42.821" v="33" actId="20577"/>
      <pc:docMkLst>
        <pc:docMk/>
      </pc:docMkLst>
      <pc:sldChg chg="modSp mod">
        <pc:chgData name="David Irungu" userId="3570a5346c53ff8c" providerId="LiveId" clId="{B3EF4350-6A02-4366-A4A5-47E00D9EF2BB}" dt="2026-08-22T10:02:42.821" v="33" actId="20577"/>
        <pc:sldMkLst>
          <pc:docMk/>
          <pc:sldMk cId="0" sldId="256"/>
        </pc:sldMkLst>
        <pc:spChg chg="mod">
          <ac:chgData name="David Irungu" userId="3570a5346c53ff8c" providerId="LiveId" clId="{B3EF4350-6A02-4366-A4A5-47E00D9EF2BB}" dt="2026-08-22T10:02:42.821" v="33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191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Binary classification task on survey data from Kenya, Rwanda, Tanzania and Uganda. Four classic algorithms are compared under an identical protocol: same preprocessing, same 2-fold stratified cross-validation.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14% base rate is the key number - it defines the 86% baseline any model must beat and drives the whole discussion of accuracy vs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strands of prior work: (1) financial-inclusion research establishing the problem's importance and its measurement; (2) ML literature comparing these same four algorithm families, which finds no universal winner - hence this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Identical preparation for all four models, wrapped in a scikit-learn Pipeline so the scaler and encoder only ever see the training fold - avoiding data leakage. After one-hot encoding the models see about 50 input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card per algorithm with its key settings. Class weighting was deliberately not used on the tree and SVM because KNN and the ANN have no equivalent - keeping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bars are the honest scores (every sample predicted by a model that never trained on it); orange bars are train-equals-test. The gap between a model's two bars measures memorization. Full per-fold numbers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SVM row highlighted as the best cross-validated accuracy (0.8881). Note KNN's 0.1048 overfit gap versus SVM's 0.0040.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confusion matrices come from the same 2-fold CV predictions as the accuracy chart - every one of the 23,524 samples appears exactly once. Percentages are shares of the true class (row-normalized).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back to the problem: the models work, honest validation matters, and the next iteration should optimize for finding the excluded - not just overall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Financial Inclusion in East Africa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KNN, Decision Tree, ANN and SVM classifiers with 2-fold cross-validation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person's demographic and socio-economic profile, can a machine predict whether they have a bank account?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Gathage  -  223405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Aicha </a:t>
            </a:r>
            <a:r>
              <a:rPr lang="en-US" sz="14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Zindamoyen</a:t>
            </a:r>
            <a:r>
              <a:rPr lang="en-US" sz="14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financial inclusion?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account is the gateway to saving safely, getting credit, insuring against risk and receiving payments. Across sub-Saharan Africa, however, only about half of adults hold any account, and far fewer hold a formal bank account.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40080" y="3035808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WHO is excluded - and which characteristics predict exclusion - helps banks, mobile-money operators and policymakers target products and policy where they matter most.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40080" y="4608576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tests whether four standard machine-learning methods can learn that prediction from national survey data, and which method does it best.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17804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17804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23,524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73836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73836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987552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KE, RW, TZ, UG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7804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17804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31520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bank account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73836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73836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87552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variables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72184"/>
            <a:ext cx="566928" cy="566928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4" name="Image 0" descr="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1619585"/>
            <a:ext cx="272125" cy="27212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41732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inclusion at scale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1463040" y="17556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Demirguc-Kunt et al. (2022), The Global Findex Database 2021, World Bank. Documents account ownership worldwide; in sub-Saharan Africa just over half of adults hold an account, with mobile money driving most recent gains.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770632"/>
            <a:ext cx="566928" cy="566928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8" name="Image 1" descr="icons/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2918033"/>
            <a:ext cx="272125" cy="2721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71576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inclusion matters - the Kenyan evidence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1463040" y="3054096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&amp; Suri (2016), Science 354(6317). Access to M-Pesa mobile money lifted an estimated 2% of Kenyan households out of extreme poverty - a causal case for expanding financial access.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4069080"/>
            <a:ext cx="566928" cy="566928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2" name="Image 2" descr="icons/troph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4216481"/>
            <a:ext cx="272125" cy="2721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401421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dataset's origin as an ML benchmark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1463040" y="435254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Zindi (2019), 'Financial Inclusion in Africa' challenge. Released the FinScope/FinAccess survey data used here (2016-2018) and framed bank-account prediction as a supervised learning task.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" y="5367528"/>
            <a:ext cx="566928" cy="566928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6" name="Image 3" descr="icons/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81" y="5514929"/>
            <a:ext cx="272125" cy="27212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53126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classic classifiers</a:t>
            </a:r>
            <a:endParaRPr lang="en-US" sz="1550" dirty="0"/>
          </a:p>
        </p:txBody>
      </p:sp>
      <p:sp>
        <p:nvSpPr>
          <p:cNvPr id="18" name="Text 12"/>
          <p:cNvSpPr/>
          <p:nvPr/>
        </p:nvSpPr>
        <p:spPr>
          <a:xfrm>
            <a:off x="1463040" y="5650992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studies of KNN, SVM, Decision Trees and neural networks on financial and credit data (e.g. the IJRASET 2024 comparative analysis) consistently find the winner is dataset-dependent - motivating a controlled comparison on THIS dataset.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data construction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89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16736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FinScope / FinAccess national surveys 2016-2018 (via the Zindi challenge): 23,524 rows, 13 columns, no missing values.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350008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uniqueid row identifier; map the target bank_account to 1 (Yes) / 0 (No).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45643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encode the 9 categorical variables (country, location, cellphone access, gender, relationship, marital status, education, job type, survey year).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48970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40080" y="4489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41655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2 numeric variables (household size, age) to mean 0, s.d. 1 - essential for the distance-based KNN and SVM and for the ANN.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522976"/>
            <a:ext cx="402336" cy="402336"/>
          </a:xfrm>
          <a:prstGeom prst="ellipse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40080" y="5522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5449824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Stratified, shuffled 2-fold cross-validation: train on one half, test on the other, then swap. All preprocessing is fitted inside each fold to prevent data leakage.</a:t>
            </a:r>
            <a:endParaRPr lang="en-US" sz="1250" dirty="0"/>
          </a:p>
        </p:txBody>
      </p:sp>
      <p:pic>
        <p:nvPicPr>
          <p:cNvPr id="18" name="Image 0" descr="../ml_project/figures/class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00200"/>
            <a:ext cx="4297680" cy="262432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223760" y="452628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7452360" y="4681728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imbalance that shapes everything: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respondents have no account, so a model that always answers “No” is already 85.9% accurate. Real skill is what lies above that line.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methods, one identical protocol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60934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539" y="20647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15 most similar respondents and takes a distance-weighted vote.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6868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15, distance weighting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444398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1" descr="icons/site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179" y="206471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370332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a flowchart of yes/no questions that best separate the classes.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0332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 10, min 25 per leaf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30936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727862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8819" y="206471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0936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(MLP)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653796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neurons learn non-linear feature interactions by backpropagation.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53796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layers 64 + 32, ReLU, Adam, early stopping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914400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17"/>
          <p:cNvSpPr/>
          <p:nvPr/>
        </p:nvSpPr>
        <p:spPr>
          <a:xfrm>
            <a:off x="10113264" y="1874520"/>
            <a:ext cx="731520" cy="731520"/>
          </a:xfrm>
          <a:prstGeom prst="ellipse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3" name="Image 3" descr="icons/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3459" y="2064715"/>
            <a:ext cx="351130" cy="35113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14400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937260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widest-margin boundary; the kernel allows it to curve.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37260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1.0, gamma = scale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preprocessing, same 2-fold stratified cross-validation - so any difference in results comes from the algorithm, not the setup.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accuracy - all samples</a:t>
            </a:r>
            <a:endParaRPr lang="en-US" sz="3400" dirty="0"/>
          </a:p>
        </p:txBody>
      </p:sp>
      <p:pic>
        <p:nvPicPr>
          <p:cNvPr id="3" name="Image 0" descr="../ml_project/figures/accurac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7680960" cy="42702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32520" y="15544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leads on honest accuracy.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88.8% under 2-fold CV, with ANN (88.6%) and Decision Tree (88.2%) close behind.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732520" y="3035808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memorizes.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97.8% when tested on its own training data, but only 87.3% on unseen folds - the largest overfit gap (10.5 points).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732520" y="4517136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to clear is 85.9%.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answering “No account” scores 85.9%; every model beats it, but by at most 2.9 points.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in detail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2-fold 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Overfit gap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time (s)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457200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690872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4440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across folds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640080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 and Fold 2 accuracies differ by at most 2 points for every model - the 2-fold estimates are stable.</a:t>
            </a:r>
            <a:endParaRPr lang="en-US" sz="1150" dirty="0"/>
          </a:p>
        </p:txBody>
      </p:sp>
      <p:sp>
        <p:nvSpPr>
          <p:cNvPr id="3" name="Shape 4"/>
          <p:cNvSpPr/>
          <p:nvPr/>
        </p:nvSpPr>
        <p:spPr>
          <a:xfrm>
            <a:off x="4315968" y="457200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69087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910328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not the whole story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4315968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models cluster within 1.5 points of each other under CV; the confusion matrices (next slide) separate them further.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7991856" y="4572000"/>
            <a:ext cx="457200" cy="457200"/>
          </a:xfrm>
          <a:prstGeom prst="ellipse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3" name="Image 2" descr="icons/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46908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586216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differs 60-fold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7991856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tree cross-validates in 0.2 s, the ANN in ~3 s, KNN in ~15 s and the SVM in ~13 s - at scale, that matters.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- where the models err</a:t>
            </a:r>
            <a:endParaRPr lang="en-US" sz="3400" dirty="0"/>
          </a:p>
        </p:txBody>
      </p:sp>
      <p:pic>
        <p:nvPicPr>
          <p:cNvPr id="3" name="Image 0" descr="../ml_project/figures/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08792" cy="2999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difficulty sits in one class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40080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recognizes non-account-holders almost perfectly (96-98%) but finds only 30-35% of actual account holders. High accuracy is mostly the majority class.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315968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errors, similar accuracy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315968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is the most conservative (fewest false “Yes”: 328) yet misses the most real account holders; ANN finds the most (1,175). Which is “best” depends on the cost of each error.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91856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help next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991856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or resampling (e.g. SMOTE), threshold tuning, and ensembles (Random Forest / gradient boosting) - all trade a little accuracy for much better minority-class recall.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2296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wins on accuracy - narrowly. 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2-fold CV accuracy (88.8%), with ANN (88.6%) statistically on its heels at a fraction of the training cost.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798064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2296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724912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evaluation changed the ranking. 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all-samples testing KNN looks like the best model (97.8%); under cross-validation it is the worst (87.3%). Validation design is not a detail.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968496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895344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would mislead here. 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86% of respondents unbanked, the interesting signal is minority-class recall - where every model still has ample room to improve.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5138928"/>
            <a:ext cx="384048" cy="384048"/>
          </a:xfrm>
          <a:prstGeom prst="ellipse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22960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5065776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recommendation.  </a:t>
            </a: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dataset: ANN or SVM with class rebalancing as the next step; the Decision Tree where interpretability for policymakers outweighs the last point of accuracy.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dataset and full per-fold results accompany this report as individual files.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1476</Words>
  <Application>Microsoft Office PowerPoint</Application>
  <PresentationFormat>Widescreen</PresentationFormat>
  <Paragraphs>133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David Irungu</cp:lastModifiedBy>
  <cp:revision>1</cp:revision>
  <dcterms:created xsi:type="dcterms:W3CDTF">2026-08-22T08:43:52Z</dcterms:created>
  <dcterms:modified xsi:type="dcterms:W3CDTF">2026-08-22T10:02:43Z</dcterms:modified>
</cp:coreProperties>
</file>